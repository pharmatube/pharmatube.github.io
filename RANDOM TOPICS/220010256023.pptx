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79" r:id="rId2"/>
    <p:sldId id="275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CBBA-B2B3-57B7-3955-937D886FC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514599"/>
            <a:ext cx="9440034" cy="1828801"/>
          </a:xfrm>
        </p:spPr>
        <p:txBody>
          <a:bodyPr>
            <a:normAutofit/>
          </a:bodyPr>
          <a:lstStyle/>
          <a:p>
            <a:r>
              <a:rPr lang="en-US" sz="2400" dirty="0"/>
              <a:t>Meaning, importance, objectives, determinants of price; pricing methods and strategies, issues in price management in pharmaceutical industry. An overview of DPCO (Drug Price Control Order)and NPPA (National Pharmaceutical Pricing Authority).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02E3D-CA14-F626-56B7-9810144961BB}"/>
              </a:ext>
            </a:extLst>
          </p:cNvPr>
          <p:cNvSpPr txBox="1"/>
          <p:nvPr/>
        </p:nvSpPr>
        <p:spPr>
          <a:xfrm>
            <a:off x="3060567" y="584462"/>
            <a:ext cx="6221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TOPIC </a:t>
            </a:r>
            <a:endParaRPr lang="en-IN" sz="5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256E20-667D-E6B0-6376-5EFEEA7D3246}"/>
              </a:ext>
            </a:extLst>
          </p:cNvPr>
          <p:cNvSpPr txBox="1">
            <a:spLocks/>
          </p:cNvSpPr>
          <p:nvPr/>
        </p:nvSpPr>
        <p:spPr>
          <a:xfrm>
            <a:off x="7129202" y="5688762"/>
            <a:ext cx="4949677" cy="9824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NAME – HEMANT KUMAR </a:t>
            </a:r>
          </a:p>
          <a:p>
            <a:r>
              <a:rPr lang="en-US"/>
              <a:t>ROLL NO – 220010256023</a:t>
            </a:r>
          </a:p>
          <a:p>
            <a:pPr marL="3690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2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FCF7-9532-582A-7E8A-D0F0AD96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1️⃣ Meaning of  Price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6CFBE-75AF-EEDF-B938-D716E54B1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Price wo monetary value </a:t>
            </a:r>
            <a:r>
              <a:rPr lang="en-IN" dirty="0" err="1"/>
              <a:t>hai</a:t>
            </a:r>
            <a:r>
              <a:rPr lang="en-IN" dirty="0"/>
              <a:t> jo customer </a:t>
            </a:r>
            <a:r>
              <a:rPr lang="en-IN" dirty="0" err="1"/>
              <a:t>kisi</a:t>
            </a:r>
            <a:r>
              <a:rPr lang="en-IN" dirty="0"/>
              <a:t> product </a:t>
            </a:r>
            <a:r>
              <a:rPr lang="en-IN" dirty="0" err="1"/>
              <a:t>ya</a:t>
            </a:r>
            <a:r>
              <a:rPr lang="en-IN" dirty="0"/>
              <a:t> service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badle</a:t>
            </a:r>
            <a:r>
              <a:rPr lang="en-IN" dirty="0"/>
              <a:t> pay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Pharmaceutical context </a:t>
            </a:r>
            <a:r>
              <a:rPr lang="en-IN" dirty="0" err="1"/>
              <a:t>mein</a:t>
            </a:r>
            <a:r>
              <a:rPr lang="en-IN" dirty="0"/>
              <a:t>:</a:t>
            </a:r>
          </a:p>
          <a:p>
            <a:r>
              <a:rPr lang="en-IN" dirty="0"/>
              <a:t>Price = Wo amount jo patient </a:t>
            </a:r>
            <a:r>
              <a:rPr lang="en-IN" dirty="0" err="1"/>
              <a:t>ya</a:t>
            </a:r>
            <a:r>
              <a:rPr lang="en-IN" dirty="0"/>
              <a:t> hospital </a:t>
            </a:r>
            <a:r>
              <a:rPr lang="en-IN" dirty="0" err="1"/>
              <a:t>kisi</a:t>
            </a:r>
            <a:r>
              <a:rPr lang="en-IN" dirty="0"/>
              <a:t> medicine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liye</a:t>
            </a:r>
            <a:r>
              <a:rPr lang="en-IN" dirty="0"/>
              <a:t> pay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, jo manufacturer se </a:t>
            </a:r>
            <a:r>
              <a:rPr lang="en-IN" dirty="0" err="1"/>
              <a:t>lekar</a:t>
            </a:r>
            <a:r>
              <a:rPr lang="en-IN" dirty="0"/>
              <a:t> retailer </a:t>
            </a:r>
            <a:r>
              <a:rPr lang="en-IN" dirty="0" err="1"/>
              <a:t>tak</a:t>
            </a:r>
            <a:r>
              <a:rPr lang="en-IN" dirty="0"/>
              <a:t> </a:t>
            </a:r>
            <a:r>
              <a:rPr lang="en-IN" dirty="0" err="1"/>
              <a:t>ke</a:t>
            </a:r>
            <a:r>
              <a:rPr lang="en-IN" dirty="0"/>
              <a:t> cost components ko include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4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FFB-F6EA-0AA9-5FD6-9E08F798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 Meaning of  Price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1F127-8A31-0C67-B643-85DE83425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Isme </a:t>
            </a:r>
            <a:r>
              <a:rPr lang="en-IN" dirty="0" err="1"/>
              <a:t>shamil</a:t>
            </a:r>
            <a:r>
              <a:rPr lang="en-IN" dirty="0"/>
              <a:t> </a:t>
            </a:r>
            <a:r>
              <a:rPr lang="en-IN" dirty="0" err="1"/>
              <a:t>hote</a:t>
            </a:r>
            <a:r>
              <a:rPr lang="en-IN" dirty="0"/>
              <a:t> hain:</a:t>
            </a:r>
          </a:p>
          <a:p>
            <a:endParaRPr lang="en-IN" dirty="0"/>
          </a:p>
          <a:p>
            <a:r>
              <a:rPr lang="en-IN" dirty="0"/>
              <a:t>• Cost of raw materials (API + excipients)</a:t>
            </a:r>
          </a:p>
          <a:p>
            <a:r>
              <a:rPr lang="en-IN" dirty="0"/>
              <a:t>• Manufacturing cost</a:t>
            </a:r>
          </a:p>
          <a:p>
            <a:r>
              <a:rPr lang="en-IN" dirty="0"/>
              <a:t>• Packaging cost</a:t>
            </a:r>
          </a:p>
          <a:p>
            <a:r>
              <a:rPr lang="en-IN" dirty="0"/>
              <a:t>• Marketing &amp; distribution cost</a:t>
            </a:r>
          </a:p>
          <a:p>
            <a:r>
              <a:rPr lang="en-IN" dirty="0"/>
              <a:t>• Profit margin</a:t>
            </a:r>
          </a:p>
          <a:p>
            <a:r>
              <a:rPr lang="en-IN" dirty="0"/>
              <a:t>• Taxes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890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B3E7-0E87-E2D7-39BD-4F25B9DA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2️⃣ Importance of Pricing in Pharmaceutical Industry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86D8C-F33E-5BAB-865A-4D96A36D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IN" dirty="0"/>
              <a:t>Pharma industry </a:t>
            </a:r>
            <a:r>
              <a:rPr lang="en-IN" dirty="0" err="1"/>
              <a:t>mein</a:t>
            </a:r>
            <a:r>
              <a:rPr lang="en-IN" dirty="0"/>
              <a:t> pricing ka role bahut sensitive </a:t>
            </a:r>
            <a:r>
              <a:rPr lang="en-IN" dirty="0" err="1"/>
              <a:t>hota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kyunki</a:t>
            </a:r>
            <a:r>
              <a:rPr lang="en-IN" dirty="0"/>
              <a:t> yeh directly health aur life se linked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dirty="0"/>
              <a:t>✔ 1. Accessibility  </a:t>
            </a:r>
          </a:p>
          <a:p>
            <a:pPr marL="36900" indent="0">
              <a:buNone/>
            </a:pPr>
            <a:r>
              <a:rPr lang="en-IN" dirty="0"/>
              <a:t>Affordable price se </a:t>
            </a:r>
            <a:r>
              <a:rPr lang="en-IN" dirty="0" err="1"/>
              <a:t>zyada</a:t>
            </a:r>
            <a:r>
              <a:rPr lang="en-IN" dirty="0"/>
              <a:t> log treatment le </a:t>
            </a:r>
            <a:r>
              <a:rPr lang="en-IN" dirty="0" err="1"/>
              <a:t>sakte</a:t>
            </a:r>
            <a:r>
              <a:rPr lang="en-IN" dirty="0"/>
              <a:t> hain.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dirty="0"/>
              <a:t>✔ 2. Profitability  </a:t>
            </a:r>
          </a:p>
          <a:p>
            <a:pPr marL="36900" indent="0">
              <a:buNone/>
            </a:pPr>
            <a:r>
              <a:rPr lang="en-IN" dirty="0"/>
              <a:t>Company ko R&amp;D, innovation aur expansion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liye</a:t>
            </a:r>
            <a:r>
              <a:rPr lang="en-IN" dirty="0"/>
              <a:t> revenue </a:t>
            </a:r>
            <a:r>
              <a:rPr lang="en-IN" dirty="0" err="1"/>
              <a:t>chahiye</a:t>
            </a:r>
            <a:r>
              <a:rPr lang="en-IN" dirty="0"/>
              <a:t>.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dirty="0"/>
              <a:t>✔ 3. Competitive Position  </a:t>
            </a:r>
          </a:p>
          <a:p>
            <a:pPr marL="36900" indent="0">
              <a:buNone/>
            </a:pPr>
            <a:r>
              <a:rPr lang="en-IN" dirty="0"/>
              <a:t>Sahi pricing brand ko market </a:t>
            </a:r>
            <a:r>
              <a:rPr lang="en-IN" dirty="0" err="1"/>
              <a:t>mein</a:t>
            </a:r>
            <a:r>
              <a:rPr lang="en-IN" dirty="0"/>
              <a:t> strong </a:t>
            </a:r>
            <a:r>
              <a:rPr lang="en-IN" dirty="0" err="1"/>
              <a:t>banata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67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445E-4ABE-5FF2-993E-0F12A6BD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2️⃣ Importance of Pricing in Pharmaceutical Industry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E40FC-401E-D930-8A98-E96F2E415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✔ 4. Regulatory Compliance  </a:t>
            </a:r>
          </a:p>
          <a:p>
            <a:pPr marL="36900" indent="0">
              <a:buNone/>
            </a:pPr>
            <a:r>
              <a:rPr lang="en-IN" dirty="0"/>
              <a:t>India </a:t>
            </a:r>
            <a:r>
              <a:rPr lang="en-IN" dirty="0" err="1"/>
              <a:t>mein</a:t>
            </a:r>
            <a:r>
              <a:rPr lang="en-IN" dirty="0"/>
              <a:t> government price control </a:t>
            </a:r>
            <a:r>
              <a:rPr lang="en-IN" dirty="0" err="1"/>
              <a:t>karti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, to pricing legal limits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andar</a:t>
            </a:r>
            <a:r>
              <a:rPr lang="en-IN" dirty="0"/>
              <a:t> </a:t>
            </a:r>
            <a:r>
              <a:rPr lang="en-IN" dirty="0" err="1"/>
              <a:t>hona</a:t>
            </a:r>
            <a:r>
              <a:rPr lang="en-IN" dirty="0"/>
              <a:t> </a:t>
            </a:r>
            <a:r>
              <a:rPr lang="en-IN" dirty="0" err="1"/>
              <a:t>chahiye</a:t>
            </a:r>
            <a:r>
              <a:rPr lang="en-IN" dirty="0"/>
              <a:t>.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dirty="0"/>
              <a:t>✔ 5. Brand Image  </a:t>
            </a:r>
          </a:p>
          <a:p>
            <a:pPr marL="36900" indent="0">
              <a:buNone/>
            </a:pPr>
            <a:r>
              <a:rPr lang="en-IN" dirty="0"/>
              <a:t>High price = premium perception  </a:t>
            </a:r>
          </a:p>
          <a:p>
            <a:pPr marL="36900" indent="0">
              <a:buNone/>
            </a:pPr>
            <a:r>
              <a:rPr lang="en-IN" dirty="0"/>
              <a:t>Low price = mass accessibility  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dirty="0"/>
              <a:t>Pharma </a:t>
            </a:r>
            <a:r>
              <a:rPr lang="en-IN" dirty="0" err="1"/>
              <a:t>mein</a:t>
            </a:r>
            <a:r>
              <a:rPr lang="en-IN" dirty="0"/>
              <a:t> price ek economic decision </a:t>
            </a:r>
            <a:r>
              <a:rPr lang="en-IN" dirty="0" err="1"/>
              <a:t>nahi</a:t>
            </a:r>
            <a:r>
              <a:rPr lang="en-IN" dirty="0"/>
              <a:t>, </a:t>
            </a:r>
            <a:r>
              <a:rPr lang="en-IN" dirty="0" err="1"/>
              <a:t>balki</a:t>
            </a:r>
            <a:r>
              <a:rPr lang="en-IN" dirty="0"/>
              <a:t> ethical responsibility </a:t>
            </a:r>
            <a:r>
              <a:rPr lang="en-IN" dirty="0" err="1"/>
              <a:t>bhi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704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6D05-6F52-E361-14A7-7E0FCDB6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3️⃣ Objectives of 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F56C3-4A7D-7F4A-DA0C-E33445213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Pharma companies </a:t>
            </a:r>
            <a:r>
              <a:rPr lang="en-IN" dirty="0" err="1"/>
              <a:t>alag-alag</a:t>
            </a:r>
            <a:r>
              <a:rPr lang="en-IN" dirty="0"/>
              <a:t> objectives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saath</a:t>
            </a:r>
            <a:r>
              <a:rPr lang="en-IN" dirty="0"/>
              <a:t> price decide </a:t>
            </a:r>
            <a:r>
              <a:rPr lang="en-IN" dirty="0" err="1"/>
              <a:t>karti</a:t>
            </a:r>
            <a:r>
              <a:rPr lang="en-IN" dirty="0"/>
              <a:t> hain:</a:t>
            </a:r>
          </a:p>
          <a:p>
            <a:endParaRPr lang="en-IN" dirty="0"/>
          </a:p>
          <a:p>
            <a:r>
              <a:rPr lang="en-IN" dirty="0"/>
              <a:t>• Profit Maximization – Maximum revenue generate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r>
              <a:rPr lang="en-IN" dirty="0"/>
              <a:t>• Market Penetration – Kam price </a:t>
            </a:r>
            <a:r>
              <a:rPr lang="en-IN" dirty="0" err="1"/>
              <a:t>rakh</a:t>
            </a:r>
            <a:r>
              <a:rPr lang="en-IN" dirty="0"/>
              <a:t> </a:t>
            </a:r>
            <a:r>
              <a:rPr lang="en-IN" dirty="0" err="1"/>
              <a:t>kar</a:t>
            </a:r>
            <a:r>
              <a:rPr lang="en-IN" dirty="0"/>
              <a:t> market share </a:t>
            </a:r>
            <a:r>
              <a:rPr lang="en-IN" dirty="0" err="1"/>
              <a:t>badhana</a:t>
            </a:r>
            <a:r>
              <a:rPr lang="en-IN" dirty="0"/>
              <a:t>  </a:t>
            </a:r>
          </a:p>
          <a:p>
            <a:r>
              <a:rPr lang="en-IN" dirty="0"/>
              <a:t>• Market Skimming – </a:t>
            </a:r>
            <a:r>
              <a:rPr lang="en-IN" dirty="0" err="1"/>
              <a:t>Shuruaat</a:t>
            </a:r>
            <a:r>
              <a:rPr lang="en-IN" dirty="0"/>
              <a:t> </a:t>
            </a:r>
            <a:r>
              <a:rPr lang="en-IN" dirty="0" err="1"/>
              <a:t>mein</a:t>
            </a:r>
            <a:r>
              <a:rPr lang="en-IN" dirty="0"/>
              <a:t> high price, </a:t>
            </a:r>
            <a:r>
              <a:rPr lang="en-IN" dirty="0" err="1"/>
              <a:t>baad</a:t>
            </a:r>
            <a:r>
              <a:rPr lang="en-IN" dirty="0"/>
              <a:t> </a:t>
            </a:r>
            <a:r>
              <a:rPr lang="en-IN" dirty="0" err="1"/>
              <a:t>mein</a:t>
            </a:r>
            <a:r>
              <a:rPr lang="en-IN" dirty="0"/>
              <a:t> reduce  </a:t>
            </a:r>
          </a:p>
          <a:p>
            <a:r>
              <a:rPr lang="en-IN" dirty="0"/>
              <a:t>• Survival – Competition </a:t>
            </a:r>
            <a:r>
              <a:rPr lang="en-IN" dirty="0" err="1"/>
              <a:t>mein</a:t>
            </a:r>
            <a:r>
              <a:rPr lang="en-IN" dirty="0"/>
              <a:t> </a:t>
            </a:r>
            <a:r>
              <a:rPr lang="en-IN" dirty="0" err="1"/>
              <a:t>tikna</a:t>
            </a:r>
            <a:r>
              <a:rPr lang="en-IN" dirty="0"/>
              <a:t>  </a:t>
            </a:r>
          </a:p>
          <a:p>
            <a:r>
              <a:rPr lang="en-IN" dirty="0"/>
              <a:t>• Social Welfare – Essential drugs ko affordable banana  </a:t>
            </a:r>
          </a:p>
          <a:p>
            <a:r>
              <a:rPr lang="en-IN" dirty="0"/>
              <a:t>• Return on Investment (ROI) – R&amp;D cost recover </a:t>
            </a:r>
            <a:r>
              <a:rPr lang="en-IN" dirty="0" err="1"/>
              <a:t>karna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69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1B7E-AD6F-956E-7A0F-716C787C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Determinants of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D7904-FEBE-CB18-3F7D-AB16C0808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Ye factors price ko influence </a:t>
            </a:r>
            <a:r>
              <a:rPr lang="en-IN" dirty="0" err="1"/>
              <a:t>karte</a:t>
            </a:r>
            <a:r>
              <a:rPr lang="en-IN" dirty="0"/>
              <a:t> hain:</a:t>
            </a:r>
          </a:p>
          <a:p>
            <a:endParaRPr lang="en-IN" dirty="0"/>
          </a:p>
          <a:p>
            <a:r>
              <a:rPr lang="en-IN" dirty="0"/>
              <a:t> 1. Cost of Production  </a:t>
            </a:r>
          </a:p>
          <a:p>
            <a:r>
              <a:rPr lang="en-IN" dirty="0"/>
              <a:t>Raw material, </a:t>
            </a:r>
            <a:r>
              <a:rPr lang="en-IN" dirty="0" err="1"/>
              <a:t>labor</a:t>
            </a:r>
            <a:r>
              <a:rPr lang="en-IN" dirty="0"/>
              <a:t>, utilities, packaging  </a:t>
            </a:r>
          </a:p>
          <a:p>
            <a:endParaRPr lang="en-IN" dirty="0"/>
          </a:p>
          <a:p>
            <a:r>
              <a:rPr lang="en-IN" dirty="0"/>
              <a:t> 2. Demand  </a:t>
            </a:r>
          </a:p>
          <a:p>
            <a:r>
              <a:rPr lang="en-IN" dirty="0"/>
              <a:t>High demand → Price stable </a:t>
            </a:r>
            <a:r>
              <a:rPr lang="en-IN" dirty="0" err="1"/>
              <a:t>ya</a:t>
            </a:r>
            <a:r>
              <a:rPr lang="en-IN" dirty="0"/>
              <a:t> high  </a:t>
            </a:r>
          </a:p>
          <a:p>
            <a:r>
              <a:rPr lang="en-IN" dirty="0"/>
              <a:t>Low demand → Price reduce  </a:t>
            </a:r>
          </a:p>
          <a:p>
            <a:endParaRPr lang="en-IN" dirty="0"/>
          </a:p>
          <a:p>
            <a:r>
              <a:rPr lang="en-IN" dirty="0"/>
              <a:t> 3. Competition  </a:t>
            </a:r>
          </a:p>
          <a:p>
            <a:r>
              <a:rPr lang="en-IN" dirty="0"/>
              <a:t>Generic medicines </a:t>
            </a:r>
            <a:r>
              <a:rPr lang="en-IN" dirty="0" err="1"/>
              <a:t>mein</a:t>
            </a:r>
            <a:r>
              <a:rPr lang="en-IN" dirty="0"/>
              <a:t> heavy competition → low price </a:t>
            </a:r>
          </a:p>
        </p:txBody>
      </p:sp>
    </p:spTree>
    <p:extLst>
      <p:ext uri="{BB962C8B-B14F-4D97-AF65-F5344CB8AC3E}">
        <p14:creationId xmlns:p14="http://schemas.microsoft.com/office/powerpoint/2010/main" val="497135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7793-0068-7B0B-E06D-7466294B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Determinants of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4E82-3BF7-97E5-6C48-CD648CFAE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4. Government Regulations  </a:t>
            </a:r>
          </a:p>
          <a:p>
            <a:r>
              <a:rPr lang="en-IN" dirty="0"/>
              <a:t>DPCO </a:t>
            </a:r>
            <a:r>
              <a:rPr lang="en-IN" dirty="0" err="1"/>
              <a:t>ke</a:t>
            </a:r>
            <a:r>
              <a:rPr lang="en-IN" dirty="0"/>
              <a:t> under essential drugs ka price control </a:t>
            </a:r>
            <a:r>
              <a:rPr lang="en-IN" dirty="0" err="1"/>
              <a:t>hota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 </a:t>
            </a:r>
          </a:p>
          <a:p>
            <a:endParaRPr lang="en-IN" dirty="0"/>
          </a:p>
          <a:p>
            <a:r>
              <a:rPr lang="en-IN" dirty="0"/>
              <a:t> 5. Distribution Channel  </a:t>
            </a:r>
          </a:p>
          <a:p>
            <a:r>
              <a:rPr lang="en-IN" dirty="0"/>
              <a:t>Wholesaler + retailer margins  </a:t>
            </a:r>
          </a:p>
          <a:p>
            <a:endParaRPr lang="en-IN" dirty="0"/>
          </a:p>
          <a:p>
            <a:r>
              <a:rPr lang="en-IN" dirty="0"/>
              <a:t> 6. Therapeutic Value  </a:t>
            </a:r>
          </a:p>
          <a:p>
            <a:r>
              <a:rPr lang="en-IN" dirty="0"/>
              <a:t>Life-saving drug → Higher pricing tolerance </a:t>
            </a:r>
          </a:p>
        </p:txBody>
      </p:sp>
    </p:spTree>
    <p:extLst>
      <p:ext uri="{BB962C8B-B14F-4D97-AF65-F5344CB8AC3E}">
        <p14:creationId xmlns:p14="http://schemas.microsoft.com/office/powerpoint/2010/main" val="380023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CC32-7524-7825-FFDD-4321D8C6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Determinants of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743DC-D074-1AE1-7006-580500F36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7. Patent Status  </a:t>
            </a:r>
          </a:p>
          <a:p>
            <a:r>
              <a:rPr lang="en-US" dirty="0"/>
              <a:t>Patent drug → High price  </a:t>
            </a:r>
          </a:p>
          <a:p>
            <a:r>
              <a:rPr lang="en-US" dirty="0"/>
              <a:t>Generic drug → Low price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29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9170-9A92-4F65-1B6D-FB4507A3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5️⃣ Pricing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E4674-F2D7-9454-496F-258D5EA71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1️⃣ Cost-Plus Pricing  </a:t>
            </a:r>
          </a:p>
          <a:p>
            <a:r>
              <a:rPr lang="en-US" dirty="0"/>
              <a:t>Price = Cost + Fixed Profit Margin  </a:t>
            </a:r>
          </a:p>
          <a:p>
            <a:r>
              <a:rPr lang="en-US" dirty="0"/>
              <a:t>Sabse common method pharma </a:t>
            </a:r>
            <a:r>
              <a:rPr lang="en-US" dirty="0" err="1"/>
              <a:t>mein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2️⃣ Marginal Cost Pricing  </a:t>
            </a:r>
          </a:p>
          <a:p>
            <a:r>
              <a:rPr lang="en-US" dirty="0" err="1"/>
              <a:t>Sirf</a:t>
            </a:r>
            <a:r>
              <a:rPr lang="en-US" dirty="0"/>
              <a:t> variable cost + minimum margin  </a:t>
            </a:r>
          </a:p>
          <a:p>
            <a:endParaRPr lang="en-US" dirty="0"/>
          </a:p>
          <a:p>
            <a:r>
              <a:rPr lang="en-US" dirty="0"/>
              <a:t>3️⃣ Break-Even Pricing  </a:t>
            </a:r>
          </a:p>
          <a:p>
            <a:r>
              <a:rPr lang="en-US" dirty="0"/>
              <a:t>Cost recover hone </a:t>
            </a:r>
            <a:r>
              <a:rPr lang="en-US" dirty="0" err="1"/>
              <a:t>tak</a:t>
            </a:r>
            <a:r>
              <a:rPr lang="en-US" dirty="0"/>
              <a:t> price set </a:t>
            </a:r>
            <a:r>
              <a:rPr lang="en-US" dirty="0" err="1"/>
              <a:t>karna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161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FD54-6A33-976F-933D-FAF8CC01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5️⃣ Pricing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82435-1445-0346-1D6B-0F994F3B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4️⃣ Value-Based Pricing  </a:t>
            </a:r>
          </a:p>
          <a:p>
            <a:r>
              <a:rPr lang="en-US" dirty="0"/>
              <a:t>Drug </a:t>
            </a:r>
            <a:r>
              <a:rPr lang="en-US" dirty="0" err="1"/>
              <a:t>ke</a:t>
            </a:r>
            <a:r>
              <a:rPr lang="en-US" dirty="0"/>
              <a:t> therapeutic benefit </a:t>
            </a:r>
            <a:r>
              <a:rPr lang="en-US" dirty="0" err="1"/>
              <a:t>ke</a:t>
            </a:r>
            <a:r>
              <a:rPr lang="en-US" dirty="0"/>
              <a:t> base par price  </a:t>
            </a:r>
          </a:p>
          <a:p>
            <a:endParaRPr lang="en-US" dirty="0"/>
          </a:p>
          <a:p>
            <a:r>
              <a:rPr lang="en-US" dirty="0"/>
              <a:t>5️⃣ Competition-Based Pricing  </a:t>
            </a:r>
          </a:p>
          <a:p>
            <a:r>
              <a:rPr lang="en-US" dirty="0"/>
              <a:t>Competitors </a:t>
            </a:r>
            <a:r>
              <a:rPr lang="en-US" dirty="0" err="1"/>
              <a:t>ke</a:t>
            </a:r>
            <a:r>
              <a:rPr lang="en-US" dirty="0"/>
              <a:t> price </a:t>
            </a:r>
            <a:r>
              <a:rPr lang="en-US" dirty="0" err="1"/>
              <a:t>ke</a:t>
            </a:r>
            <a:r>
              <a:rPr lang="en-US" dirty="0"/>
              <a:t> according set </a:t>
            </a:r>
            <a:r>
              <a:rPr lang="en-US" dirty="0" err="1"/>
              <a:t>karna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434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1D44-F5D3-6C46-57E1-90C13451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6️⃣ Pricing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F298-F088-DAFA-B4E8-957DDB72E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Penetration Pricing  </a:t>
            </a:r>
          </a:p>
          <a:p>
            <a:r>
              <a:rPr lang="en-US" dirty="0"/>
              <a:t>Low price se entry  </a:t>
            </a:r>
          </a:p>
          <a:p>
            <a:endParaRPr lang="en-US" dirty="0"/>
          </a:p>
          <a:p>
            <a:r>
              <a:rPr lang="en-US" dirty="0"/>
              <a:t>✔ Skimming Pricing  </a:t>
            </a:r>
          </a:p>
          <a:p>
            <a:r>
              <a:rPr lang="en-US" dirty="0"/>
              <a:t>High initial price (new patented drug)  </a:t>
            </a:r>
          </a:p>
          <a:p>
            <a:endParaRPr lang="en-US" dirty="0"/>
          </a:p>
          <a:p>
            <a:r>
              <a:rPr lang="en-US" dirty="0"/>
              <a:t>✔ Differential Pricing  </a:t>
            </a:r>
          </a:p>
          <a:p>
            <a:r>
              <a:rPr lang="en-US" dirty="0"/>
              <a:t>Different markets </a:t>
            </a:r>
            <a:r>
              <a:rPr lang="en-US" dirty="0" err="1"/>
              <a:t>mein</a:t>
            </a:r>
            <a:r>
              <a:rPr lang="en-US" dirty="0"/>
              <a:t> different prices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47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132D-9EF0-50CA-2164-016F8077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6️⃣ Pricing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2A2A2-A6CC-8359-EE5C-1A5D2D1E8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Promotional Pricing  </a:t>
            </a:r>
          </a:p>
          <a:p>
            <a:r>
              <a:rPr lang="en-US" dirty="0"/>
              <a:t>Discounts to hospitals or bulk buyers  </a:t>
            </a:r>
          </a:p>
          <a:p>
            <a:endParaRPr lang="en-US" dirty="0"/>
          </a:p>
          <a:p>
            <a:r>
              <a:rPr lang="en-US" dirty="0"/>
              <a:t>✔ Psychological Pricing  </a:t>
            </a:r>
          </a:p>
          <a:p>
            <a:r>
              <a:rPr lang="en-US" dirty="0"/>
              <a:t>MRP ₹99 instead of ₹100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934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D2DF-E67E-07DF-40CF-CA24A5FF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7️⃣ Issues in Price Management in Pharma Industry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06EC1-F2A9-E5F1-FD41-3AEB7AC8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Pharma pricing ek tightrope walk </a:t>
            </a:r>
            <a:r>
              <a:rPr lang="en-IN" dirty="0" err="1"/>
              <a:t>hai</a:t>
            </a:r>
            <a:r>
              <a:rPr lang="en-IN" dirty="0"/>
              <a:t>. Issues include:</a:t>
            </a:r>
          </a:p>
          <a:p>
            <a:endParaRPr lang="en-IN" dirty="0"/>
          </a:p>
          <a:p>
            <a:r>
              <a:rPr lang="en-IN" dirty="0"/>
              <a:t>⚠ High R&amp;D Cost  </a:t>
            </a:r>
          </a:p>
          <a:p>
            <a:r>
              <a:rPr lang="en-IN" dirty="0"/>
              <a:t>New drug development expensive </a:t>
            </a:r>
            <a:r>
              <a:rPr lang="en-IN" dirty="0" err="1"/>
              <a:t>hota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 </a:t>
            </a:r>
          </a:p>
          <a:p>
            <a:endParaRPr lang="en-IN" dirty="0"/>
          </a:p>
          <a:p>
            <a:r>
              <a:rPr lang="en-IN" dirty="0"/>
              <a:t>⚠ Government Price Control  </a:t>
            </a:r>
          </a:p>
          <a:p>
            <a:r>
              <a:rPr lang="en-IN" dirty="0"/>
              <a:t>Profit margins limited </a:t>
            </a:r>
            <a:r>
              <a:rPr lang="en-IN" dirty="0" err="1"/>
              <a:t>ho</a:t>
            </a:r>
            <a:r>
              <a:rPr lang="en-IN" dirty="0"/>
              <a:t> </a:t>
            </a:r>
            <a:r>
              <a:rPr lang="en-IN" dirty="0" err="1"/>
              <a:t>sakte</a:t>
            </a:r>
            <a:r>
              <a:rPr lang="en-IN" dirty="0"/>
              <a:t> hain  </a:t>
            </a:r>
          </a:p>
          <a:p>
            <a:endParaRPr lang="en-IN" dirty="0"/>
          </a:p>
          <a:p>
            <a:r>
              <a:rPr lang="en-IN" dirty="0"/>
              <a:t>⚠ Ethical Concerns  </a:t>
            </a:r>
          </a:p>
          <a:p>
            <a:r>
              <a:rPr lang="en-IN" dirty="0"/>
              <a:t>Life-saving drugs ka high price controversy create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6397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DBB8-27D2-EBC0-61FC-221F629F7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7️⃣ Issues in Price Management in Pharma Industry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BEA9-A7F8-700D-A129-36B41C80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⚠ Competition from Generics  </a:t>
            </a:r>
          </a:p>
          <a:p>
            <a:r>
              <a:rPr lang="en-IN" dirty="0"/>
              <a:t>Patent expire hone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baad</a:t>
            </a:r>
            <a:r>
              <a:rPr lang="en-IN" dirty="0"/>
              <a:t> price crash  </a:t>
            </a:r>
          </a:p>
          <a:p>
            <a:endParaRPr lang="en-IN" dirty="0"/>
          </a:p>
          <a:p>
            <a:r>
              <a:rPr lang="en-IN" dirty="0"/>
              <a:t>⚠ Supply Chain Costs  </a:t>
            </a:r>
          </a:p>
          <a:p>
            <a:r>
              <a:rPr lang="en-IN" dirty="0"/>
              <a:t>Logistics + cold chain expenses  </a:t>
            </a:r>
          </a:p>
          <a:p>
            <a:endParaRPr lang="en-IN" dirty="0"/>
          </a:p>
          <a:p>
            <a:r>
              <a:rPr lang="en-IN" dirty="0"/>
              <a:t>⚠ Counterfeit Drugs  </a:t>
            </a:r>
          </a:p>
          <a:p>
            <a:r>
              <a:rPr lang="en-IN" dirty="0"/>
              <a:t>Low-cost fake drugs market disturb </a:t>
            </a:r>
            <a:r>
              <a:rPr lang="en-IN" dirty="0" err="1"/>
              <a:t>karte</a:t>
            </a:r>
            <a:r>
              <a:rPr lang="en-IN" dirty="0"/>
              <a:t> hain </a:t>
            </a:r>
          </a:p>
        </p:txBody>
      </p:sp>
    </p:spTree>
    <p:extLst>
      <p:ext uri="{BB962C8B-B14F-4D97-AF65-F5344CB8AC3E}">
        <p14:creationId xmlns:p14="http://schemas.microsoft.com/office/powerpoint/2010/main" val="4098252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1846-33C4-FDED-0805-3D57F97B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8️⃣ Overview of DPCO (Drug Price Control Order)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4D3B-DE8C-B852-A590-75DD9B86F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DPCO ek legal order </a:t>
            </a:r>
            <a:r>
              <a:rPr lang="en-IN" dirty="0" err="1"/>
              <a:t>hai</a:t>
            </a:r>
            <a:r>
              <a:rPr lang="en-IN" dirty="0"/>
              <a:t> jo Government of India issue </a:t>
            </a:r>
            <a:r>
              <a:rPr lang="en-IN" dirty="0" err="1"/>
              <a:t>karti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under Essential Commodities Act.</a:t>
            </a:r>
          </a:p>
          <a:p>
            <a:endParaRPr lang="en-IN" dirty="0"/>
          </a:p>
          <a:p>
            <a:r>
              <a:rPr lang="en-IN" dirty="0"/>
              <a:t>Purpose:</a:t>
            </a:r>
          </a:p>
          <a:p>
            <a:r>
              <a:rPr lang="en-IN" dirty="0"/>
              <a:t>• Essential medicines ko affordable banana  </a:t>
            </a:r>
          </a:p>
          <a:p>
            <a:r>
              <a:rPr lang="en-IN" dirty="0"/>
              <a:t>• </a:t>
            </a:r>
            <a:r>
              <a:rPr lang="en-IN" dirty="0" err="1"/>
              <a:t>Unka</a:t>
            </a:r>
            <a:r>
              <a:rPr lang="en-IN" dirty="0"/>
              <a:t> maximum price fix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endParaRPr lang="en-IN" dirty="0"/>
          </a:p>
          <a:p>
            <a:r>
              <a:rPr lang="en-IN" dirty="0"/>
              <a:t>Current Version:</a:t>
            </a:r>
          </a:p>
          <a:p>
            <a:r>
              <a:rPr lang="en-IN" dirty="0"/>
              <a:t>• DPCO 2013 (latest major version) </a:t>
            </a:r>
          </a:p>
        </p:txBody>
      </p:sp>
    </p:spTree>
    <p:extLst>
      <p:ext uri="{BB962C8B-B14F-4D97-AF65-F5344CB8AC3E}">
        <p14:creationId xmlns:p14="http://schemas.microsoft.com/office/powerpoint/2010/main" val="2170871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A588-E92F-0181-28EB-3B87E2614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8️⃣ Overview of DPCO (Drug Price Control Order)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3B891-2135-22AD-B0CF-18AF5D1B6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Key Points:</a:t>
            </a:r>
          </a:p>
          <a:p>
            <a:endParaRPr lang="en-IN" dirty="0"/>
          </a:p>
          <a:p>
            <a:r>
              <a:rPr lang="en-IN" dirty="0"/>
              <a:t>• National List of Essential Medicines (NLEM) </a:t>
            </a:r>
            <a:r>
              <a:rPr lang="en-IN" dirty="0" err="1"/>
              <a:t>ke</a:t>
            </a:r>
            <a:r>
              <a:rPr lang="en-IN" dirty="0"/>
              <a:t> drugs ka price control  </a:t>
            </a:r>
          </a:p>
          <a:p>
            <a:r>
              <a:rPr lang="en-IN" dirty="0"/>
              <a:t>• Ceiling price fix </a:t>
            </a:r>
            <a:r>
              <a:rPr lang="en-IN" dirty="0" err="1"/>
              <a:t>hota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 </a:t>
            </a:r>
          </a:p>
          <a:p>
            <a:r>
              <a:rPr lang="en-IN" dirty="0"/>
              <a:t>• Companies </a:t>
            </a:r>
            <a:r>
              <a:rPr lang="en-IN" dirty="0" err="1"/>
              <a:t>isse</a:t>
            </a:r>
            <a:r>
              <a:rPr lang="en-IN" dirty="0"/>
              <a:t> </a:t>
            </a:r>
            <a:r>
              <a:rPr lang="en-IN" dirty="0" err="1"/>
              <a:t>zyada</a:t>
            </a:r>
            <a:r>
              <a:rPr lang="en-IN" dirty="0"/>
              <a:t> price charge </a:t>
            </a:r>
            <a:r>
              <a:rPr lang="en-IN" dirty="0" err="1"/>
              <a:t>nahi</a:t>
            </a:r>
            <a:r>
              <a:rPr lang="en-IN" dirty="0"/>
              <a:t>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sakti</a:t>
            </a:r>
            <a:r>
              <a:rPr lang="en-IN" dirty="0"/>
              <a:t>  </a:t>
            </a:r>
          </a:p>
          <a:p>
            <a:endParaRPr lang="en-IN" dirty="0"/>
          </a:p>
          <a:p>
            <a:r>
              <a:rPr lang="en-IN" dirty="0"/>
              <a:t>Ceiling price = Average price of all brands with ≥1% market share </a:t>
            </a:r>
          </a:p>
        </p:txBody>
      </p:sp>
    </p:spTree>
    <p:extLst>
      <p:ext uri="{BB962C8B-B14F-4D97-AF65-F5344CB8AC3E}">
        <p14:creationId xmlns:p14="http://schemas.microsoft.com/office/powerpoint/2010/main" val="4259201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FDB5-5465-68E8-780B-7E42C394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9️⃣ Overview of NPPA (National Pharmaceutical Pricing Authority)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93DAD-FAAD-14D5-3DED-47773BD0C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NPPA ek government body </a:t>
            </a:r>
            <a:r>
              <a:rPr lang="en-IN" dirty="0" err="1"/>
              <a:t>hai</a:t>
            </a:r>
            <a:r>
              <a:rPr lang="en-IN" dirty="0"/>
              <a:t> jo 1997 </a:t>
            </a:r>
            <a:r>
              <a:rPr lang="en-IN" dirty="0" err="1"/>
              <a:t>mein</a:t>
            </a:r>
            <a:r>
              <a:rPr lang="en-IN" dirty="0"/>
              <a:t> establish hui </a:t>
            </a:r>
            <a:r>
              <a:rPr lang="en-IN" dirty="0" err="1"/>
              <a:t>thi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Role:</a:t>
            </a:r>
          </a:p>
          <a:p>
            <a:endParaRPr lang="en-IN" dirty="0"/>
          </a:p>
          <a:p>
            <a:r>
              <a:rPr lang="en-IN" dirty="0"/>
              <a:t>• Drug prices regulate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r>
              <a:rPr lang="en-IN" dirty="0"/>
              <a:t>• Ceiling price fix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r>
              <a:rPr lang="en-IN" dirty="0"/>
              <a:t>• Companies monitor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r>
              <a:rPr lang="en-IN" dirty="0"/>
              <a:t>• Overcharging par penalty </a:t>
            </a:r>
            <a:r>
              <a:rPr lang="en-IN" dirty="0" err="1"/>
              <a:t>lagana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541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CE6F-3A67-FFF1-94C1-92DAFA61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9️⃣ Overview of NPPA (National Pharmaceutical Pricing Authority)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46BC8-84D3-E520-D5CF-B731C0832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Functions:</a:t>
            </a:r>
          </a:p>
          <a:p>
            <a:endParaRPr lang="en-IN" dirty="0"/>
          </a:p>
          <a:p>
            <a:r>
              <a:rPr lang="en-IN" dirty="0"/>
              <a:t>• DPCO implement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r>
              <a:rPr lang="en-IN" dirty="0"/>
              <a:t>• Non-scheduled drugs </a:t>
            </a:r>
            <a:r>
              <a:rPr lang="en-IN" dirty="0" err="1"/>
              <a:t>ke</a:t>
            </a:r>
            <a:r>
              <a:rPr lang="en-IN" dirty="0"/>
              <a:t> price increase monitor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r>
              <a:rPr lang="en-IN" dirty="0"/>
              <a:t>• Public complaints handle </a:t>
            </a:r>
            <a:r>
              <a:rPr lang="en-IN" dirty="0" err="1"/>
              <a:t>karna</a:t>
            </a:r>
            <a:r>
              <a:rPr lang="en-IN" dirty="0"/>
              <a:t>  </a:t>
            </a:r>
          </a:p>
          <a:p>
            <a:r>
              <a:rPr lang="en-IN" dirty="0"/>
              <a:t>• Data collection aur analysis  </a:t>
            </a:r>
          </a:p>
          <a:p>
            <a:endParaRPr lang="en-IN" dirty="0"/>
          </a:p>
          <a:p>
            <a:r>
              <a:rPr lang="en-IN" dirty="0"/>
              <a:t>NPPA ek watchdog ki </a:t>
            </a:r>
            <a:r>
              <a:rPr lang="en-IN" dirty="0" err="1"/>
              <a:t>tarah</a:t>
            </a:r>
            <a:r>
              <a:rPr lang="en-IN" dirty="0"/>
              <a:t>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, jo ensure </a:t>
            </a:r>
            <a:r>
              <a:rPr lang="en-IN" dirty="0" err="1"/>
              <a:t>karta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ki </a:t>
            </a:r>
            <a:r>
              <a:rPr lang="en-IN" dirty="0" err="1"/>
              <a:t>dawai</a:t>
            </a:r>
            <a:r>
              <a:rPr lang="en-IN" dirty="0"/>
              <a:t> ka </a:t>
            </a:r>
            <a:r>
              <a:rPr lang="en-IN" dirty="0" err="1"/>
              <a:t>daam</a:t>
            </a:r>
            <a:r>
              <a:rPr lang="en-IN" dirty="0"/>
              <a:t> </a:t>
            </a:r>
            <a:r>
              <a:rPr lang="en-IN" dirty="0" err="1"/>
              <a:t>insaniyat</a:t>
            </a:r>
            <a:r>
              <a:rPr lang="en-IN" dirty="0"/>
              <a:t> se </a:t>
            </a:r>
            <a:r>
              <a:rPr lang="en-IN" dirty="0" err="1"/>
              <a:t>bada</a:t>
            </a:r>
            <a:r>
              <a:rPr lang="en-IN" dirty="0"/>
              <a:t> </a:t>
            </a:r>
            <a:r>
              <a:rPr lang="en-IN" dirty="0" err="1"/>
              <a:t>na</a:t>
            </a:r>
            <a:r>
              <a:rPr lang="en-IN" dirty="0"/>
              <a:t> ho. </a:t>
            </a:r>
          </a:p>
        </p:txBody>
      </p:sp>
    </p:spTree>
    <p:extLst>
      <p:ext uri="{BB962C8B-B14F-4D97-AF65-F5344CB8AC3E}">
        <p14:creationId xmlns:p14="http://schemas.microsoft.com/office/powerpoint/2010/main" val="1127490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25DA-E52D-D79B-BFDF-4D030695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Revision Table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6987D39-FE6B-B12B-BA3C-F370F88C6E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298541"/>
          <a:ext cx="10353674" cy="2926080"/>
        </p:xfrm>
        <a:graphic>
          <a:graphicData uri="http://schemas.openxmlformats.org/drawingml/2006/table">
            <a:tbl>
              <a:tblPr/>
              <a:tblGrid>
                <a:gridCol w="5176837">
                  <a:extLst>
                    <a:ext uri="{9D8B030D-6E8A-4147-A177-3AD203B41FA5}">
                      <a16:colId xmlns:a16="http://schemas.microsoft.com/office/drawing/2014/main" val="4065327577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171834523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Key 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6035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Monetary value of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9463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Objectives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Profit, market share, survival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2426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Determinants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Cost, demand, govt rules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2444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Cost-plus, value-based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5454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Strategies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Penetration, skimming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4344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DPCO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Essential drug price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1289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NPPA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Price monitoring authority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39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381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FFADF-9A14-E35A-E056-7F9AC054B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want to download mere notes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5A16-09D6-893B-A7DC-D2ED179CD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6000" dirty="0"/>
              <a:t>Pharmatube.github.io</a:t>
            </a:r>
          </a:p>
          <a:p>
            <a:pPr marL="36900" indent="0" algn="ctr">
              <a:buNone/>
            </a:pPr>
            <a:r>
              <a:rPr lang="en-US" sz="6000" dirty="0"/>
              <a:t>Random videos</a:t>
            </a:r>
          </a:p>
          <a:p>
            <a:pPr marL="36900" indent="0" algn="ctr">
              <a:buNone/>
            </a:pPr>
            <a:r>
              <a:rPr lang="en-US" sz="6000" dirty="0"/>
              <a:t>#23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095958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E6F7-FE7A-893C-0429-4CBC2B90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9600" dirty="0"/>
              <a:t>Any question….</a:t>
            </a:r>
            <a:endParaRPr lang="en-IN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3FDFD-64C6-9685-DF83-C063D5154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endParaRPr lang="en-US" sz="8000" dirty="0"/>
          </a:p>
          <a:p>
            <a:pPr marL="36900" indent="0" algn="ctr">
              <a:buNone/>
            </a:pPr>
            <a:r>
              <a:rPr lang="en-US" sz="8000" dirty="0" err="1"/>
              <a:t>Faaltu</a:t>
            </a:r>
            <a:r>
              <a:rPr lang="en-US" sz="8000" dirty="0"/>
              <a:t> </a:t>
            </a:r>
            <a:r>
              <a:rPr lang="en-US" sz="8000" dirty="0" err="1"/>
              <a:t>wala</a:t>
            </a:r>
            <a:r>
              <a:rPr lang="en-US" sz="8000" dirty="0"/>
              <a:t>.…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4181310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FC26-5213-5E3E-DE36-81AA640F5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08" y="2670141"/>
            <a:ext cx="9808584" cy="2667787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8800" dirty="0"/>
              <a:t>THANK YOU… 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18084323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67</TotalTime>
  <Words>938</Words>
  <Application>Microsoft Office PowerPoint</Application>
  <PresentationFormat>Widescreen</PresentationFormat>
  <Paragraphs>183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Calisto MT</vt:lpstr>
      <vt:lpstr>Wingdings 2</vt:lpstr>
      <vt:lpstr>Slate</vt:lpstr>
      <vt:lpstr>Meaning, importance, objectives, determinants of price; pricing methods and strategies, issues in price management in pharmaceutical industry. An overview of DPCO (Drug Price Control Order)and NPPA (National Pharmaceutical Pricing Authority).</vt:lpstr>
      <vt:lpstr>1️⃣ Meaning of  Price </vt:lpstr>
      <vt:lpstr>1️⃣ Meaning of  Price </vt:lpstr>
      <vt:lpstr>2️⃣ Importance of Pricing in Pharmaceutical Industry</vt:lpstr>
      <vt:lpstr>2️⃣ Importance of Pricing in Pharmaceutical Industry</vt:lpstr>
      <vt:lpstr>3️⃣ Objectives of Pricing</vt:lpstr>
      <vt:lpstr>4️⃣ Determinants of Price</vt:lpstr>
      <vt:lpstr>4️⃣ Determinants of Price</vt:lpstr>
      <vt:lpstr>4️⃣ Determinants of Price</vt:lpstr>
      <vt:lpstr>5️⃣ Pricing Methods</vt:lpstr>
      <vt:lpstr>5️⃣ Pricing Methods</vt:lpstr>
      <vt:lpstr>6️⃣ Pricing Strategies</vt:lpstr>
      <vt:lpstr>6️⃣ Pricing Strategies</vt:lpstr>
      <vt:lpstr>7️⃣ Issues in Price Management in Pharma Industry</vt:lpstr>
      <vt:lpstr>7️⃣ Issues in Price Management in Pharma Industry</vt:lpstr>
      <vt:lpstr>8️⃣ Overview of DPCO (Drug Price Control Order)</vt:lpstr>
      <vt:lpstr>8️⃣ Overview of DPCO (Drug Price Control Order)</vt:lpstr>
      <vt:lpstr>9️⃣ Overview of NPPA (National Pharmaceutical Pricing Authority)</vt:lpstr>
      <vt:lpstr>9️⃣ Overview of NPPA (National Pharmaceutical Pricing Authority)</vt:lpstr>
      <vt:lpstr>Quick Revision Table</vt:lpstr>
      <vt:lpstr>If you want to download mere notes </vt:lpstr>
      <vt:lpstr>Any question….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 Kumar</dc:creator>
  <cp:lastModifiedBy>Hemant Kumar</cp:lastModifiedBy>
  <cp:revision>1</cp:revision>
  <dcterms:created xsi:type="dcterms:W3CDTF">2026-02-12T15:13:27Z</dcterms:created>
  <dcterms:modified xsi:type="dcterms:W3CDTF">2026-02-12T16:21:17Z</dcterms:modified>
</cp:coreProperties>
</file>